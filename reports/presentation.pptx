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20"/>
              </a:spcAft>
              <a:defRPr sz="3800" b="1">
                <a:solidFill>
                  <a:srgbClr val="FFFFFF"/>
                </a:solidFill>
              </a:defRPr>
            </a:pPr>
            <a:r>
              <a:t>Supplier Non-Compliance</a:t>
            </a:r>
          </a:p>
          <a:p>
            <a:pPr algn="ctr">
              <a:spcAft>
                <a:spcPts val="1520"/>
              </a:spcAft>
              <a:defRPr sz="3800" b="1">
                <a:solidFill>
                  <a:srgbClr val="FFFFFF"/>
                </a:solidFill>
              </a:defRPr>
            </a:pPr>
            <a:r>
              <a:t>Risk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40"/>
              </a:spcAft>
              <a:defRPr sz="1600" b="0">
                <a:solidFill>
                  <a:srgbClr val="CCCCDD"/>
                </a:solidFill>
              </a:defRPr>
            </a:pPr>
            <a:r>
              <a:t>AI Data Scientist Case Study — Qualifyze</a:t>
            </a:r>
          </a:p>
          <a:p>
            <a:pPr algn="ctr">
              <a:spcAft>
                <a:spcPts val="640"/>
              </a:spcAft>
              <a:defRPr sz="1600" b="0">
                <a:solidFill>
                  <a:srgbClr val="CCCCDD"/>
                </a:solidFill>
              </a:defRPr>
            </a:pPr>
          </a:p>
          <a:p>
            <a:pPr algn="ctr">
              <a:spcAft>
                <a:spcPts val="640"/>
              </a:spcAft>
              <a:defRPr sz="1600" b="0">
                <a:solidFill>
                  <a:srgbClr val="CCCCDD"/>
                </a:solidFill>
              </a:defRPr>
            </a:pPr>
            <a:r>
              <a:t>Santiago Dominguez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266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Qualifyze evaluates suppliers for pharma/device companies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FDA inspects facilities → classifies as NAI (ok) / VAI (minor) / OAI (serious)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OAI = enforcement actions, warning letters, recalls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Only ~5% of inspections result in OAI — rare but very costly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GOAL: Predict which suppliers will get OAI before it happens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→ Enable proactive risk management instead of reactive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6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60"/>
              </a:spcAft>
              <a:defRPr sz="3400" b="1">
                <a:solidFill>
                  <a:srgbClr val="FFFFFF"/>
                </a:solidFill>
              </a:defRPr>
            </a:pPr>
            <a:r>
              <a:t>Data &amp;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Data Sources (all public FDA)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266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Inspection Classifications    337K records   NAI/VAI/OAI per facility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Citations (483 observations)  277K records   Specific CFR violations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Warning Letters               3,608 records  Formal enforcement notices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Enforcement / Recalls         57K records    Product recalls by severity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Published Form 483s           1,973 records  Detailed inspection reports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All linked via FEI Number (facility ID)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Warning letters + enforcement: fuzzy name matching (TF-IDF + location)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1100" b="0">
                <a:solidFill>
                  <a:srgbClr val="5A5A6E"/>
                </a:solidFill>
              </a:defRPr>
            </a:pPr>
            <a:r>
              <a:t>Coverage: WL 55% matched, Enforcement 82% matched. Remaining are online pharmacies with no inspection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266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Unit of analysis: one row per inspection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All features from PRIOR history only (no data leakage)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INSPECTION HISTORY    n_prior_oai, n_prior_nai, trend, recency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CITATIONS             total count, unique CFR codes, max in single inspection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WARNING LETTERS       count, days since last (via entity matching)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ENFORCEMENT           recall count, Class I count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483s                  count of published forms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CONTEXT               product type, country, project area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22 features total  |  Temporal split: train &lt; 2025, test ≥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6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60"/>
              </a:spcAft>
              <a:defRPr sz="3400" b="1">
                <a:solidFill>
                  <a:srgbClr val="FFFFFF"/>
                </a:solidFill>
              </a:defRPr>
            </a:pPr>
            <a:r>
              <a:t>Modeling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Approach &amp;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266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Baseline: Logistic Regression (fully interpretable)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Main: XGBoost with class weighting (scale_pos_weight = 20)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Tuning: RandomizedSearchCV, 30 iterations, PR-AUC, TimeSeriesSplit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KEY DECISIONS: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• No SMOTE — 7,200 positives is enough; class weights suffice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• Removed last_classification_oai — model improved without it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  (was overfitting to a trivial pattern; other features encode same info)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• Threshold optimized for recall (asymmetric cost in supply chain risk)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20"/>
              </a:spcAft>
              <a:defRPr sz="1300" b="0">
                <a:solidFill>
                  <a:srgbClr val="5A5A6E"/>
                </a:solidFill>
              </a:defRPr>
            </a:pPr>
            <a:r>
              <a:t>ROC-AUC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3600" b="1">
                <a:solidFill>
                  <a:srgbClr val="266DF0"/>
                </a:solidFill>
              </a:defRPr>
            </a:pPr>
            <a:r>
              <a:t>0.875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0"/>
              </a:spcAft>
              <a:defRPr sz="1100" b="0">
                <a:solidFill>
                  <a:srgbClr val="5A5A6E"/>
                </a:solidFill>
              </a:defRPr>
            </a:pPr>
            <a:r>
              <a:t>Discrimination 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20"/>
              </a:spcAft>
              <a:defRPr sz="1300" b="0">
                <a:solidFill>
                  <a:srgbClr val="5A5A6E"/>
                </a:solidFill>
              </a:defRPr>
            </a:pPr>
            <a:r>
              <a:t>PR-AUC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3600" b="1">
                <a:solidFill>
                  <a:srgbClr val="266DF0"/>
                </a:solidFill>
              </a:defRPr>
            </a:pPr>
            <a:r>
              <a:t>0.376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0"/>
              </a:spcAft>
              <a:defRPr sz="1100" b="0">
                <a:solidFill>
                  <a:srgbClr val="5A5A6E"/>
                </a:solidFill>
              </a:defRPr>
            </a:pPr>
            <a:r>
              <a:t>7x better than random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20"/>
              </a:spcAft>
              <a:defRPr sz="1300" b="0">
                <a:solidFill>
                  <a:srgbClr val="5A5A6E"/>
                </a:solidFill>
              </a:defRPr>
            </a:pPr>
            <a:r>
              <a:t>Recall@80%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40"/>
              </a:spcAft>
              <a:defRPr sz="3600" b="1">
                <a:solidFill>
                  <a:srgbClr val="266DF0"/>
                </a:solidFill>
              </a:defRPr>
            </a:pPr>
            <a: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0"/>
              </a:spcAft>
              <a:defRPr sz="1100" b="0">
                <a:solidFill>
                  <a:srgbClr val="5A5A6E"/>
                </a:solidFill>
              </a:defRPr>
            </a:pPr>
            <a:r>
              <a:t>Catches 4/5 OAIs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0">
                <a:solidFill>
                  <a:srgbClr val="1A1A2E"/>
                </a:solidFill>
              </a:defRPr>
            </a:pPr>
            <a:r>
              <a:t>Model                         ROC-AUC   PR-AUC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1A1A2E"/>
                </a:solidFill>
              </a:defRPr>
            </a:pPr>
            <a:r>
              <a:t>────────────────────────────────────────────────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1A1A2E"/>
                </a:solidFill>
              </a:defRPr>
            </a:pPr>
            <a:r>
              <a:t>Logistic Regression            0.739     0.254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1A1A2E"/>
                </a:solidFill>
              </a:defRPr>
            </a:pPr>
            <a:r>
              <a:t>XGBoost (weighted)             0.875     0.376  ← final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1A1A2E"/>
                </a:solidFill>
              </a:defRPr>
            </a:pPr>
            <a:r>
              <a:t>XGBoost (tuned)                0.870     0.358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2200" b="1">
                <a:solidFill>
                  <a:srgbClr val="1A1A2E"/>
                </a:solidFill>
              </a:defRPr>
            </a:pPr>
            <a:r>
              <a:t>ROC &amp; Precision-Recall Curves</a:t>
            </a:r>
          </a:p>
        </p:txBody>
      </p:sp>
      <p:pic>
        <p:nvPicPr>
          <p:cNvPr id="3" name="Picture 2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28113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Threshold: Business-Driven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266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The model outputs a probability → we choose where to cut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FALSE POSITIVE (flag safe supplier)  → analyst reviews it, low cost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FALSE NEGATIVE (miss risky supplier) → client gets enforcement action, high cost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Recall 80%  |  Precision 14%  |  ~6 false alarms per true alert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This is a SCREENING tool — flags for human review, not auto-reject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Threshold is configurable per client's review capacity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2200" b="1">
                <a:solidFill>
                  <a:srgbClr val="1A1A2E"/>
                </a:solidFill>
              </a:defRPr>
            </a:pPr>
            <a:r>
              <a:t>What Drives Risk? (Feature Importance)</a:t>
            </a:r>
          </a:p>
        </p:txBody>
      </p:sp>
      <p:pic>
        <p:nvPicPr>
          <p:cNvPr id="3" name="Picture 2" descr="fi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63382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A5A6E"/>
                </a:solidFill>
              </a:defRPr>
            </a:pPr>
            <a:r>
              <a:t>n_prior_oai (41%) + recent_oai_rate (11%) + n_prior_nai (9%) — distributed, robust signal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6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60"/>
              </a:spcAft>
              <a:defRPr sz="3400" b="1">
                <a:solidFill>
                  <a:srgbClr val="FFFFFF"/>
                </a:solidFill>
              </a:defRPr>
            </a:pPr>
            <a:r>
              <a:t>Interpretability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2200" b="1">
                <a:solidFill>
                  <a:srgbClr val="1A1A2E"/>
                </a:solidFill>
              </a:defRPr>
            </a:pPr>
            <a:r>
              <a:t>SHAP — Every Prediction is Explainable</a:t>
            </a:r>
          </a:p>
        </p:txBody>
      </p:sp>
      <p:pic>
        <p:nvPicPr>
          <p:cNvPr id="3" name="Picture 2" descr="fig_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486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A5A6E"/>
                </a:solidFill>
              </a:defRPr>
            </a:pPr>
            <a:r>
              <a:t>Each dot = one inspection. Color = feature value (red=high). Position = impact on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Supplier Risk Report (Production Output)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266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FACILITY: Acme Pharma (FEI: 3007058211)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RISK SCORE: 95.2%  —  CRITICAL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Risk Drivers: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↑ 2 prior OAI inspections              (+25%)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↑ Recent OAI rate = 1.0                 (+15%)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↑ 0 clean (NAI) inspections             (+10%)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↑ Veterinary / high-risk sector          (+5%)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Every prediction has a human-readable explanation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Full audit trail for regulatory compliance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6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60"/>
              </a:spcAft>
              <a:defRPr sz="3400" b="1">
                <a:solidFill>
                  <a:srgbClr val="FFFFFF"/>
                </a:solidFill>
              </a:defRPr>
            </a:pPr>
            <a:r>
              <a:t>Production &amp; MLOps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Deployed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266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LIVE APP: Streamlit on Azure App Service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→ Enter FEI → get risk score + SHAP explanation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→ qualifyze-risk-xxx.azurewebsites.net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CI/CD: GitHub Actions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→ PR → pytest → merge → tests pass → auto-deploy to Azure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→ Branch protection on main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ORCHESTRATION: Airflow (4 DAGs, local demo)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→ Weekly data refresh, feature pipeline, monthly retrain, batch scoring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→ Champion/challenger model promotion pattern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MONITORING: drift detection on score distribution (proposed)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2600" b="1">
                <a:solidFill>
                  <a:srgbClr val="1A1A2E"/>
                </a:solidFill>
              </a:defRPr>
            </a:pPr>
            <a: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828800" cy="38100"/>
          </a:xfrm>
          <a:prstGeom prst="rect">
            <a:avLst/>
          </a:prstGeom>
          <a:solidFill>
            <a:srgbClr val="266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LIMITATIONS: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• Cannot predict first-time offenders (no prior history)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• FDA inspection database is not comprehensive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• Entity matching has noise for ~45% of warning letters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• ROC-AUC 0.87 is likely the ceiling with public data alone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HIGHEST-VALUE NEXT STEPS: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1. Integrate Qualifyze private audit data (biggest lift for first-offenders)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2. NLP on citation text (severity categorization beyond CFR codes)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3. Survival analysis (time-to-next-OAI, not just binary)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1A1A2E"/>
                </a:solidFill>
              </a:defRPr>
            </a:pPr>
            <a:r>
              <a:t>    4. Active learning from analyst feedback on flagged suppliers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20"/>
              </a:spcAft>
              <a:defRPr sz="3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40"/>
              </a:spcAft>
              <a:defRPr sz="1600" b="0">
                <a:solidFill>
                  <a:srgbClr val="CCCCDD"/>
                </a:solidFill>
              </a:defRPr>
            </a:pPr>
            <a:r>
              <a:t>Questions &amp; Discussion</a:t>
            </a:r>
          </a:p>
          <a:p>
            <a:pPr algn="ctr">
              <a:spcAft>
                <a:spcPts val="640"/>
              </a:spcAft>
              <a:defRPr sz="1600" b="0">
                <a:solidFill>
                  <a:srgbClr val="CCCCDD"/>
                </a:solidFill>
              </a:defRPr>
            </a:pPr>
          </a:p>
          <a:p>
            <a:pPr algn="ctr">
              <a:spcAft>
                <a:spcPts val="640"/>
              </a:spcAft>
              <a:defRPr sz="1600" b="0">
                <a:solidFill>
                  <a:srgbClr val="CCCCDD"/>
                </a:solidFill>
              </a:defRPr>
            </a:pPr>
            <a:r>
              <a:t>github.com/santiago-dc/qualifyze-case-study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